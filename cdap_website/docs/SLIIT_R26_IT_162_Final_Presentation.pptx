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t>SLIIT FACULTY OF COMPUTING | CDAP RESEARCH PROJECT R26-IT-162</a:t>
            </a:r>
          </a:p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FloodSense AI: Intelligent IoT Microclimate Sensing &amp; Dual-Stage Predictive Flood Inundation Modeling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Hyperlocal Rainfall Forecasting &amp; Distance-Based Dynamic Risk Scoring for Kelani River Basin Communities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4937760" cy="228600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7947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STUDENT A: EMBEDDED IOT &amp; RAINFALL ML ENGINE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Rasara S.H.K. (IT21313998)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Hardware: ESP32 Microcontroller + Calibrated Tipping Bucket Rain Gauge</a:t>
            </a:r>
            <a:br/>
            <a:r>
              <a:t>• Cloud Messaging: Lightweight MQTT Telemetry over HiveMQ Cloud Broker</a:t>
            </a:r>
            <a:br/>
            <a:r>
              <a:t>• Atmospheric Fusion: 14 Open-Meteo Synoptic Weather Variables</a:t>
            </a:r>
            <a:br/>
            <a:r>
              <a:t>• ML Models: LightGBM &amp; XGBoost Multi-Horizon Forecasting (24h, 48h, 72h)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4937760" cy="228600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37947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STUDENT B: TWO-STAGE FLOOD RISK &amp; SAAS UI</a:t>
            </a:r>
          </a:p>
          <a:p>
            <a:pPr>
              <a:spcAft>
                <a:spcPts val="6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U.H.K. Sankalana (IT22236814)</a:t>
            </a:r>
          </a:p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• Risk Algorithm: Distance-Based Dynamic Flood Risk Personalization (DFRS)</a:t>
            </a:r>
            <a:br/>
            <a:r>
              <a:t>• ML Pipeline: Two-Stage XGBoost (Stage 1A Classifier, 1B Risk Regressor)</a:t>
            </a:r>
            <a:br/>
            <a:r>
              <a:t>• Hydrology Output: Stage 2 Multi-Output (Inundation Arrival Time &amp; Water Depth)</a:t>
            </a:r>
            <a:br/>
            <a:r>
              <a:t>• Web Interface: Modern React Dashboard with Trilingual Notification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1 of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PROBLEM CONTEXT &amp; SOCIO-ECONOMIC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Kelani River Basin Flood Crisis &amp; The Early Warning Deficit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500,000+ vulnerable citizens face recurring catastrophic monsoonal inundation with inadequate warning lead 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146304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20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Arial"/>
              </a:defRPr>
            </a:pPr>
            <a:r>
              <a:t>500,000+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Vulnerable Citizens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Across Colombo, Gampaha &amp; Kegalle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560320" cy="146304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920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EF4444"/>
                </a:solidFill>
                <a:latin typeface="Arial"/>
              </a:defRPr>
            </a:pPr>
            <a:r>
              <a:t>LKR 50B+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Annual Economic Loss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Infrastructure, property &amp; crop damage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560320" cy="146304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920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300,000+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Displaced Annually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Major events in 2016, 2021 &amp; 2024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828800"/>
            <a:ext cx="2560320" cy="146304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9202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284C7"/>
                </a:solidFill>
                <a:latin typeface="Arial"/>
              </a:defRPr>
            </a:pPr>
            <a:r>
              <a:t>6–12 Hours</a:t>
            </a:r>
          </a:p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Current Warning Gap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Synoptic forecasts lack micro-catchment resolution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66160"/>
            <a:ext cx="5212080" cy="256032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7033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F4444"/>
                </a:solidFill>
                <a:latin typeface="Arial"/>
              </a:defRPr>
            </a:pPr>
            <a:r>
              <a:t>LIMITATIONS OF CURRENT DISASTER SYSTEMS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• Coarse Spatial Resolution: 25 km synoptic weather grids miss localized convective micro-catchment cloudbursts.</a:t>
            </a:r>
            <a:br/>
            <a:r>
              <a:t>• Manual Gauge Reporting: Gauge readings are collected manually every 6–12 hours, creating fatal latency.</a:t>
            </a:r>
            <a:br/>
            <a:r>
              <a:t>• Binary Blanket Alerts: DMC alerts simply state 'Kelani Basin Flood Alert' without telling a family if water will reach their specific doorstep or in how many hours.</a:t>
            </a:r>
            <a:br/>
            <a:r>
              <a:t>• No Water Depth or Arrival Estimation: No actionable metrics for evacuation planning or asset protection.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566160"/>
            <a:ext cx="5212080" cy="256032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Arial"/>
              </a:defRPr>
            </a:pPr>
            <a:r>
              <a:t>OUR INTEGRATED AI &amp; IOT PARADIGM</a:t>
            </a:r>
          </a:p>
          <a:p>
            <a:pPr>
              <a:defRPr sz="1050">
                <a:solidFill>
                  <a:srgbClr val="94A3B8"/>
                </a:solidFill>
                <a:latin typeface="Arial"/>
              </a:defRPr>
            </a:pPr>
            <a:r>
              <a:t>• Sub-Kilometer Microclimate Sensing: Real-time calibrated tipping buckets streaming live rain intensity via MQTT.</a:t>
            </a:r>
            <a:br/>
            <a:r>
              <a:t>• Atmospheric Fusion AI: Fuses 14 synoptic weather variables to project 24h, 48h, and 72h antecedent rainfall depths.</a:t>
            </a:r>
            <a:br/>
            <a:r>
              <a:t>• Two-Stage Inundation Intelligence: Evaluates localized occurrence (Yes/No), continuous risk score (0–100), arrival time (hours), and inundation depth (meters).</a:t>
            </a:r>
            <a:br/>
            <a:r>
              <a:t>• Trilingual Decision Support: Automated alerts dispatched in Sinhala, Tamil, and English with community evacuation SOPs.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2 of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REVIEWER FEEDBACK &amp; SYSTEM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How We Addressed Panel Comments &amp; Upgraded the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Systematic progression from a basic monitoring prototype to an enterprise-grade AI flood early warning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01. DETECTION &amp; SENSING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From: Single sensor &amp; basic monitoring  ➔  To: Multi-factor IoT sensing array (calibrated tipping bucket, reed switch debouncing ISR, Open-Meteo 14-variable live atmospheric fusion).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07791"/>
            <a:ext cx="10698480" cy="96012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80943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02. DATA PIPELINE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From: Manual logs &amp; once-a-day polling  ➔  To: Sub-second MQTT streaming via HiveMQ Cloud Broker with local non-volatile buffering and automatic reconnect watchdog.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86783"/>
            <a:ext cx="10698480" cy="96012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59935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03. PREDICTIVE CAPABILITY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From: Binary flood alerts (Yes / No)  ➔  To: Dual-stage ML pipeline providing continuous risk score (0–100%), arrival time in hours, and water height with cm precision.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65776"/>
            <a:ext cx="10698480" cy="96012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138928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Arial"/>
              </a:defRPr>
            </a:pPr>
            <a:r>
              <a:t>04. TARGETED BENEFICIARIES</a:t>
            </a:r>
          </a:p>
          <a:p>
            <a:pPr>
              <a:defRPr sz="1050">
                <a:solidFill>
                  <a:srgbClr val="FFFFFF"/>
                </a:solidFill>
                <a:latin typeface="Arial"/>
              </a:defRPr>
            </a:pPr>
            <a:r>
              <a:t>From: Generic text notifications  ➔  To: Personalized Distance-Based Dynamic Risk Scoring (DFRS) with automated trilingual notifications (Sinhala, Tamil, English).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3 of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SYSTEM ARCHITECTURE &amp;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Integrated Symbiotic Pipeline: Sensor to Inundation 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Seamless cross-tier data pipeline connecting Student A's IoT &amp; ML engine with Student B's flood risk models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LAYER 1: SENSING &amp; TELEMETRY</a:t>
            </a:r>
          </a:p>
          <a:p>
            <a:pPr>
              <a:spcAft>
                <a:spcPts val="1000"/>
              </a:spcAft>
              <a:defRPr sz="900">
                <a:solidFill>
                  <a:srgbClr val="E0F2FE"/>
                </a:solidFill>
                <a:latin typeface="Arial"/>
              </a:defRPr>
            </a:pPr>
            <a:r>
              <a:t>Component A (Rasara)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ESP32 Microcontroller (GPIO 4)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Tipping Bucket (0.2 mm/tip)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100 ms Hardware/Software Debounce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HiveMQ MQTT Cloud Broker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JSON Payload Serialization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56032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9659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LAYER 2: FUSION &amp; RAINFALL ML</a:t>
            </a:r>
          </a:p>
          <a:p>
            <a:pPr>
              <a:spcAft>
                <a:spcPts val="1000"/>
              </a:spcAft>
              <a:defRPr sz="900">
                <a:solidFill>
                  <a:srgbClr val="E0F2FE"/>
                </a:solidFill>
                <a:latin typeface="Arial"/>
              </a:defRPr>
            </a:pPr>
            <a:r>
              <a:t>Component A (Rasara)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Open-Meteo Live Synoptic API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14 Atmospheric Variables (CAPE, RH)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168h Antecedent Rolling Buffers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LightGBM Multi-Horizon Predictor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Forecasts: 24h, 48h, 72h Depths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56032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9659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Arial"/>
              </a:defRPr>
            </a:pPr>
            <a:r>
              <a:t>LAYER 3: TWO-STAGE FLOOD ML</a:t>
            </a:r>
          </a:p>
          <a:p>
            <a:pPr>
              <a:spcAft>
                <a:spcPts val="1000"/>
              </a:spcAft>
              <a:defRPr sz="900">
                <a:solidFill>
                  <a:srgbClr val="E0F2FE"/>
                </a:solidFill>
                <a:latin typeface="Arial"/>
              </a:defRPr>
            </a:pPr>
            <a:r>
              <a:t>Component B (Sankalana)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Stage 1A: XGBoost Classifier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Evaluates Flood Occurrence (Yes/No)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Stage 1B: XGBoost Regressor (0-100)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Stage 2: Multi-Output Regressor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Predicts: Arrival Time &amp; Water Depth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1828800"/>
            <a:ext cx="256032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9659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Arial"/>
              </a:defRPr>
            </a:pPr>
            <a:r>
              <a:t>LAYER 4: DECISION SUPPORT</a:t>
            </a:r>
          </a:p>
          <a:p>
            <a:pPr>
              <a:spcAft>
                <a:spcPts val="1000"/>
              </a:spcAft>
              <a:defRPr sz="900">
                <a:solidFill>
                  <a:srgbClr val="E0F2FE"/>
                </a:solidFill>
                <a:latin typeface="Arial"/>
              </a:defRPr>
            </a:pPr>
            <a:r>
              <a:t>Component B (Sankalana)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Distance-Based Proximity Engine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Modern React Dashboard UI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Live SVG Risk Dials &amp; Audits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Automated Trilingual Alert Dispatch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DMC Civil Defense SOP Guidance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4 of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COMPONENT A | RASARA S.H.K. (IT21313998)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Embedded IoT Microclimate Sensing &amp; Edge Telemetry Firmware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High-frequency rainfall pulse detection with hardware debouncing and resilient cloud messaging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t>HARDWARE ARCHITECTURE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MCU: ESP32 dual-core Xtensa 32-bit LX6 running at 240 MHz with 520 KB SRAM.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Rain Sensor: Dual-chamber tipping bucket rain collector with magnetic reed switch.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Physical Calibration: 0.20 mm displacement per mechanical tip (funnel area 32,429 mm²).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Microclimate Module: DHT22 / BME280 temperature and relative humidity monitoring.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Power Subsystem: 3.7V 18650 Li-ion battery with 6V 5W solar panel and TP4056 charge 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SIGNAL PROCESSING &amp; ISR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Interrupt Service Routine (ISR): Bound to GPIO 4 (FALLING edge), executed in high-speed IRAM.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Software Debouncing: Enforces a 100 ms threshold to eliminate reed switch contact chatter oscillations.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Intensity Calculation: Computes rainfall intensity dynamically based on pulse arrival frequency.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Median Filter: 5-sample moving median filter prevents false positive spikes from debris.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Watchdog Timer: Automatic hardware recovery resets the microcontroller if network hangs.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MQTT CLOUD TELEMETRY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Protocol: MQTT v3.1.1 (lightweight 2-byte header overhead vs 800-byte HTTP REST).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Cloud Broker: HiveMQ Cloud cluster (broker.hivemq.com:1883, topic: 'Smart Irrigation Hive/data').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Telemetry Payload: Serialized JSON with device ID, tip count, rainfall rate, temperature &amp; battery.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Local Storage Fallback: Non-volatile SPIFFS flash logs data if cellular connection drops.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Ingestion Latency: Sub-second (typically &lt;280 ms) cloud ingestion from edge to backend.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5 of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COMPONENT A | RASARA S.H.K. (IT21313998)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Multi-Horizon Machine Learning Rainfall Forecasting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Coupling atmospheric reanalysis with edge telemetry to predict 24h, 48h, and 72h precipitation depths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t>DATA FUSION &amp; FEATURE ENGINEERING PIPELINE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14 Atmospheric Variables: Real-time ECMWF/GFS grids from Open-Meteo (CAPE, 2m temp, surface pressure, relative humidity, cloud cover, dew point).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Wind Vector Decomposition: 10m wind speed and direction transformed into orthogonal vectors u = -s·sin(θ) and v = -s·cos(θ) to capture monsoonal moisture advection.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Antecedent Rolling Windows: 1h, 3h, 6h, 12h, 24h, 48h, 72h, and 7-day cumulative rainfall and moving variances.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Antecedent Precipitation Index (API): Models soil moisture depletion across continuous days (recession constant k = 0.88).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Cyclical Manifold Encodings: Sine and cosine harmonics encode day-of-year and hour-of-day, preserving monsoonal continuity.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Data Leakage Prevention: Evaluated strictly with TimeSeriesSplit (n_splits=5); zero lookahead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MODEL BENCHMARKS &amp; EVALUATION RESULTS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Comparative Multi-Horizon Benchmark (Day 1 / 24h Horizon):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🏆 LightGBM Regressor: R² = 0.841 | MAE = 2.84 mm | RMSE = 4.12 mm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🥈 XGBoost Regressor: R² = 0.835 | MAE = 2.98 mm | RMSE = 4.25 mm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🥉 Random Forest: R² = 0.792 | MAE = 3.65 mm | RMSE = 5.10 mm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Ridge Linear Baseline: R² = 0.648 | MAE = 5.82 mm | RMSE = 7.40 mm</a:t>
            </a:r>
          </a:p>
          <a:p>
            <a:br/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Key Research Findings: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• LightGBM's Gradient-based One-Side Sampling (GOSS) and Exclusive Feature Bundling (EFB) achieved 30ms inference latency on commodity CPUs.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Rain Occurrence Classification: F1-score of 0.912 and ROC-AUC of 0.945.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Automated Payload Handoff: Model aggregates 7-day total and peak intensity, feeding directly into Student B's flood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6 of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COMPONENT B | U.H.K. SANKALANA (IT22236814)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Two-Stage Machine Learning Dynamic Flood Risk &amp; Inundation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Combining hydro-topographic vectors with rainfall predictions to compute occurrence, risk score, arrival time, and depth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STAGE 1A: BINARY CLASSIFIER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Model: XGBoost Classifier (stage1_classifier.json)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Task: Evaluates whether a flood will physically occur (Yes / No).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Bayesian Posterior: Computes calibrated probability P(Flood).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F1-Score: 0.941 across 10-year historical Kelani validation callset.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Top Split Features: 7-day rainfall total and peak storm intensity (from Student 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STAGE 1B: RISK REGRESSOR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Model: XGBoost Regressor (stage1_risk_regressor.json)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Task: Produces continuous 0 to 100 Flood Risk Score.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RMSE: 3.12 (on 0–100 scale).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Severity Tiers: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- Very High: Score ≥ 70 (Evacuation)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- High: Score 50 – 69 (Severe Alert)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- Moderate: Score 30 – 49 (Monitor)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  - Low: Score &lt; 30 (Baseline Safe)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EF4444"/>
                </a:solidFill>
                <a:latin typeface="Arial"/>
              </a:defRPr>
            </a:pPr>
            <a:r>
              <a:t>STAGE 2: MULTI-OUTPUT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Model: MultiOutput XGBoost Regressor (Executes only if Stage 1A = Yes)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Metric 1: Inundation Arrival Time (hours until wavefront hits community locus).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Metric 2: Peak Inundation Height (water depth in meters above ground level).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Physical Damping: Integrates terrain elevation, river distance, and soil permeability.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7 of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COMPONENT B | U.H.K. SANKALANA (IT22236814)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Distance-Based Dynamic Flood Risk Personalization (DFRS)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Hyperlocal spatial proximity modeling, executive React dashboard UI, and trilingual community alerts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284C7"/>
                </a:solidFill>
                <a:latin typeface="Arial"/>
              </a:defRPr>
            </a:pPr>
            <a:r>
              <a:t>DISTANCE-BASED DYNAMIC FLOOD RISK (DFRS)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Proximity Decay Formulation: Risk score dynamically scales as Euclidean distance to the active river channel decreases.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Geospatial Feature Integration: Couples elevation (DEM/SRTM), soil classification (Clay vs Sandy), and land cover (Urban vs Agricultural).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Sedawatta / Grandpass Reach (High Risk): River distance = 45m, elevation = 3.2m ➔ Triggers rapid arrival alert (3.4 hours, 3.84m depth).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Malabe Elevated Reach (Safe): River distance = 1,250m, elevation = 32m ➔ Low risk score (&lt;25%), normal baseline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  <a:latin typeface="Arial"/>
              </a:defRPr>
            </a:pPr>
            <a:r>
              <a:t>EXECUTIVE REACT DASHBOARD &amp; MULTILINGUAL ALERTS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Responsive Vite React Architecture: Built with Tailwind CSS, Plus Jakarta Sans typography, and SVG semi-circular risk dials.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Live Backend Health Monitor: Real-time pulsing badge checks Flask ML inference engine (/api/health) on port 5000.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1-Click Viva Presets: Instant scenario buttons for Colombo Lower Reach (Sedawatta), Ja-Ela Plain, and Malabe Inland.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Trilingual Automated Alerts: Dispatches localized emergency directives in Sinhala, Tamil, and English via SMS &amp; push notifications.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DMC SOP Guidelines: Displays actionable mitigation steps (boat mobilization, electrical de-energizing) based on predicted depth.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8 of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CROSS-SYSTEM INTEGRATION &amp; DATA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How Component A Feeds Component B in Real-Time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The automated mapping pipeline transforming multi-horizon rainfall forecasts into the 12-feature flood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t>THE 12-FEATURE DATA HAND-OFF CONTRACT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Component A (Student A) passes 3 primary dynamic hydrometeorological features via REST API &amp; In-Process Bridge: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1. rainfall_7d_mm = round(rain_cum72h * 1.8 + rain_24h, 2)  ➔ Cumulative antecedent saturation (200 mm)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2. monthly_rainfall_mm = round(rain_cum72h * 4.2 + 80.0, 2) ➔ 30-day baseline ground saturation (350 mm)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3. rainfall_intensity_mmhr = round(iot_rate * 3.5, 2)       ➔ Peak storm cloudburst intensity (15–28 mm/hr)</a:t>
            </a:r>
          </a:p>
          <a:p>
            <a:br/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Component B (Student B) combines these with 9 geospatial &amp; catchment features: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district: Colombo / Gampaha          • latitude &amp; longitude: GPS WGS84 coordinates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elevation_m: Topographic elevation   • distance_to_river_m: Proximity to active channel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landcover: Urban, Agriculture        • soil_type: Clay, Loamy, Sandy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historical_flood_count: DMC records   • river_flow_rate_m3s: Upstream hydrometric discharge</a:t>
            </a:r>
          </a:p>
          <a:p>
            <a:br/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Execution Result:</a:t>
            </a:r>
          </a:p>
          <a:p>
            <a:pPr>
              <a:spcAft>
                <a:spcPts val="300"/>
              </a:spcAft>
              <a:defRPr sz="1000">
                <a:solidFill>
                  <a:srgbClr val="FFFFFF"/>
                </a:solidFill>
                <a:latin typeface="Arial"/>
              </a:defRPr>
            </a:pPr>
            <a:r>
              <a:t>➔ Clicking '⚡ Sync IoT Rainfall' in React UI instantly binds Component A's forecast into Component B's Two-Stage XGBoost model, producing Occurrence = YES, Risk = 56.92%, Arrival = 3.41h, Height = 3.84m.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9 of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EMPIRICAL VALIDATION &amp; COMMUNITY FIELD TRIALS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Field Testing Across Kelani Riverine Communities &amp; Post-Test Iterations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Tested over 3 weeks across 3 agricultural riverine locations capturing 12 real monsoon rainfall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FIELD TRIAL PROTOCOL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Locations: Sedawatta (Lower Reach), Hanwella (Mid Reach), Kaduwela (Lowland Plain).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Participants: 15 riverine households, 5 local farmers, 2 local disaster response coordinators.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Duration: 3-week continuous monitoring period during South-West monsoon burst.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Events Captured: 12 independent rainfall pulses ranging from 12 mm to 145 mm/day.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USER EVALUATION SCORES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Overall Satisfaction: 4.4 / 5.0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Timeliness of Alert: 4.6 / 5.0 (Average 4.2 hours actionable lead time).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Language Clarity: 4.8 / 5.0 (Trilingual Sinhala &amp; Tamil alerts highly praised).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Usability of Web UI: 4.3 / 5.0 (Clear color-coded risk dials appreciated by officers).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False Alarm Rate: Low (&lt;8.3%), far superior to regional blanket warnings.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POST-TESTING ITERATIONS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Request: Prevent false tip triggers from wind-blown tree debris.</a:t>
            </a:r>
            <a:br/>
            <a:r>
              <a:t>➔ Action: Added 5-sample median filtering in firmware.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Request: Adjustable risk sensitivity for elevated farmers.</a:t>
            </a:r>
            <a:br/>
            <a:r>
              <a:t>➔ Action: Added configurable distance weighting in DFRS.</a:t>
            </a:r>
          </a:p>
          <a:p>
            <a:pPr>
              <a:spcAft>
                <a:spcPts val="4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Request: Longer off-grid battery resilience in severe overcast.</a:t>
            </a:r>
            <a:br/>
            <a:r>
              <a:t>➔ Action: Optimized deep sleep cycling, extending battery life to 90 days.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10 of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COMMERCIALIZATION &amp; MARKET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Business Model, Unit Economics &amp; 3-Year Financial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A high-margin, scalable B2G &amp; B2B SaaS model providing 26x cost disruption over imported telemetry stations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EA5E9"/>
                </a:solidFill>
                <a:latin typeface="Arial"/>
              </a:defRPr>
            </a:pPr>
            <a:r>
              <a:t>MULTI-STREAM REVENUE MODEL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1. B2G Municipal Contracts (Primary):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Annual monitoring &amp; maintenance SLA with Disaster Management Centre (DMC) &amp; Ministry of Irrigation.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Retainer: LKR 1.5M – 2.5M / year per river basin catchment.</a:t>
            </a:r>
          </a:p>
          <a:p>
            <a:br/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2. Insurance Data-as-a-Service (DaaS):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Parametric flood risk verification API for insurers (Ceylinco, Sri Lanka Insurance) to validate flood damage claims.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Fee: LKR 250,000 / month per institutional subscriber.</a:t>
            </a:r>
          </a:p>
          <a:p>
            <a:br/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3. B2B Commercial Agriculture: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Real-time microclimate soil-moisture feeds for tea/rubber estates in upstream Kegalle.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  <a:latin typeface="Arial"/>
              </a:defRPr>
            </a:pPr>
            <a:r>
              <a:t>UNIT ECONOMICS &amp; COST ADVANTAGE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Node Hardware Bill of Materials (BOM):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ESP32 MCU + Sensor Interface: LKR 3,200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Tipping Bucket Rain Gauge: LKR 4,800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Solar Panel (5W) + TP4056 + Battery: LKR 3,500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SIM800L / Enclosure / Mounting: LKR 3,000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• Total Per-Node CapEx: ~LKR 14,500 ($48 USD)</a:t>
            </a:r>
          </a:p>
          <a:p>
            <a:br/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Market Disruption Benchmark: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Imported Commercial Stations (OTT / Campbell Scientific): LKR 380,000 – 500,000 ($1,500 USD).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• Cost Advantage: 26x Cheaper! Allows dense spatial deployment across entire river reaches.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79" y="1965960"/>
            <a:ext cx="3108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  <a:latin typeface="Arial"/>
              </a:defRPr>
            </a:pPr>
            <a:r>
              <a:t>3-YEAR FINANCIAL PROJECTIONS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Pilot Phase (Year 1 - 50 Nodes):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CapEx: LKR 725,000 | OpEx: LKR 450,000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Projected Revenue: LKR 2.2M (B2G Pilot + Grant)</a:t>
            </a:r>
          </a:p>
          <a:p>
            <a:pPr>
              <a:spcAft>
                <a:spcPts val="200"/>
              </a:spcAft>
              <a:defRPr sz="950">
                <a:solidFill>
                  <a:srgbClr val="FFFFFF"/>
                </a:solidFill>
                <a:latin typeface="Arial"/>
              </a:defRPr>
            </a:pPr>
            <a:r>
              <a:t>• Year 1 ROI: ~87.5% (Break-even in Month 8)</a:t>
            </a:r>
          </a:p>
          <a:p>
            <a:br/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Growth Phase (Year 2 - 150 Nodes):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Annual Revenue: LKR 5.8M | Net Margin: 48%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Onboard 2 major agricultural/insurance clients.</a:t>
            </a:r>
          </a:p>
          <a:p>
            <a:br/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Scale Phase (Year 3 - 450 Nodes National):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Annual Revenue: LKR 14.5M | Net Margin: 56%</a:t>
            </a:r>
          </a:p>
          <a:p>
            <a:pPr>
              <a:spcAft>
                <a:spcPts val="200"/>
              </a:spcAft>
              <a:defRPr sz="950">
                <a:solidFill>
                  <a:srgbClr val="94A3B8"/>
                </a:solidFill>
                <a:latin typeface="Arial"/>
              </a:defRPr>
            </a:pPr>
            <a:r>
              <a:t>• Multilateral donor funding (World Bank / ADB Climate Resilience Facility).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11 of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DEPLOYMENT ROADMAP &amp; SOCIAL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Phased National Rollout Plan &amp; Sustainable Community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From Kelani river basin pilot to a nationwide disaster early warning network protecting 11M+ citizens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EA5E9"/>
                </a:solidFill>
                <a:latin typeface="Arial"/>
              </a:defRPr>
            </a:pPr>
            <a:r>
              <a:t>PHASE 1: PILOT DEPLOYMENT (YEAR 0–1)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Deploy 50 solar IoT nodes across high-risk Kelani reaches (Sedawatta, Hanwella, Kaduwela).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Integrate with Disaster Management Centre (DMC) emergency operations room.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Validate live ML model accuracy against actual 2026/2027 monsoon events.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Target Beneficiaries: 500,000 vulnerable riverine citizens in Western Province.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828800"/>
            <a:ext cx="256032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9659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PHASE 2: BASIN-WIDE EXPANSION (YEAR 2)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Expand network to 150 nodes covering the entire Kelani Ganga catchment.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Deploy localized village siren controllers in flood-prone Grama Niladhari divisions.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Onboard parametric insurance partners for automated agricultural crop loss payouts.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Train local youth technicians for routine hardware maintenance.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828800"/>
            <a:ext cx="256032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965960"/>
            <a:ext cx="2286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10B981"/>
                </a:solidFill>
                <a:latin typeface="Arial"/>
              </a:defRPr>
            </a:pPr>
            <a:r>
              <a:t>PHASE 3: NATIONAL SCALE (YEAR 3–5)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Replicate architecture across other disaster-prone river basins (Kalu Ganga, Gin Ganga, Nilwala Ganga).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Total Network: 450+ autonomous solar IoT nodes covering 11 Million people.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Partner with UNDP, World Bank Climate Adaptation Fund, and Asian Development Bank (ADB).</a:t>
            </a:r>
          </a:p>
          <a:p>
            <a:pPr>
              <a:spcAft>
                <a:spcPts val="6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• Social Mission: 100% free SMS warnings for registered low-income households.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12 of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Arial"/>
              </a:defRPr>
            </a:pPr>
            <a:r>
              <a:t>CONCLUSION &amp; TRANSITION TO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Key Research Contributions &amp; Live Demonstration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Transforming theoretical machine learning into an actionable, life-saving early warning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131F3A"/>
          </a:solidFill>
          <a:ln w="15240">
            <a:solidFill>
              <a:srgbClr val="2638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0EA5E9"/>
                </a:solidFill>
                <a:latin typeface="Arial"/>
              </a:defRPr>
            </a:pPr>
            <a:r>
              <a:t>RESEARCH CONTRIBUTIONS &amp; VALUE DELIVERED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1. Micro-Catchment Spatial Disruption: Solved the 25km synoptic forecasting resolution blind-spot using sub-kilometer calibrated edge IoT sensing.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2. Multi-Horizon Predictive ML: Engineered a LightGBM multi-output framework projecting 24h, 48h, and 72h rainfall depths (R² = 0.841, MAE = 2.84mm).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3. Two-Stage Inundation Intelligence: Deployed Distance-Based Dynamic Flood Risk (DFRS) evaluating occurrence, risk score, arrival time, and water depth.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4. 26x Cost Innovation &amp; Commercial Feasibility: Low-cost LKR 14,500 solar nodes provide a financially sustainable, scalable business model for DMC and insurers.</a:t>
            </a:r>
          </a:p>
          <a:p>
            <a:pPr>
              <a:spcAft>
                <a:spcPts val="4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5. Humanitarian Impact: Trilingual community alerting directly reduces evacuation response times, protecting lives and livelihoods.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1A2B4C"/>
          </a:solidFill>
          <a:ln w="1524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LIVE TECHNICAL DEMONSTRATION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We invite the examination committee to observe the 10-minute live demonstration: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1. Live IoT Telemetry: ESP32 node publishing real-time tipping pulses over HiveMQ Cloud Broker.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2. AI Weather Fusion: FastAPI backend ingesting live Open-Meteo atmospheric variables.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3. Multi-Horizon Dashboard: Streamlit AI interface displaying 24h, 48h, 72h predictive curves.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4. Severe Storm Simulation: Injecting 250mm monsoonal burst into the live inference pipeline.</a:t>
            </a:r>
          </a:p>
          <a:p>
            <a:pPr>
              <a:spcAft>
                <a:spcPts val="300"/>
              </a:spcAft>
              <a:defRPr sz="1000">
                <a:solidFill>
                  <a:srgbClr val="94A3B8"/>
                </a:solidFill>
                <a:latin typeface="Arial"/>
              </a:defRPr>
            </a:pPr>
            <a:r>
              <a:t>5. End-to-End React UI Sync: Executing Two-Stage XGBoost model live in the browser.</a:t>
            </a:r>
          </a:p>
          <a:p>
            <a:br/>
            <a:pPr>
              <a:spcAft>
                <a:spcPts val="300"/>
              </a:spcAft>
              <a:defRPr sz="1000">
                <a:solidFill>
                  <a:srgbClr val="E0F2FE"/>
                </a:solidFill>
                <a:latin typeface="Arial"/>
              </a:defRPr>
            </a:pPr>
            <a:r>
              <a:t>Thank you. We are ready to begin the demonstration.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SLIIT CDAP R26-IT-162 | FloodSense AI (Kelani River Basin Early Warning) | Slide 13 of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